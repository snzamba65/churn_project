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63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Démarrer par : 'Perdre un client coûte 5 à 7 fois plus cher que d'en fidéliser un. Ce projet répond à une question concrète : comment détecter, avant qu'il parte, un client qui risque de résilier son abonnement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en 30 secondes. Démo live du dashboard à la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 clé : Sur 374 clients qui ont vraiment churné dans le jeu de test, le modèle en détecte 295 (79%). Il en rate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L'architecture modulaire src/ évite la duplication de code entre notebooks, dashboard et API. Tout changement dans preprocessing.py se répercute automatiquement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structure dans VS Code en live si possible. Insister sur le fait que src/ est importé par les notebooks, le dashboard ET l'API - une seule source de vérité.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critique pour le jury : SMOTE est appliqué APRÈS le split train/test. Si on l'appliquait avant, des exemples synthétiques du test contamineraient le train →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AUC-ROC comme scoring et pas accuracy ? L'accuracy est trompeuse : un modèle qui prédit 'jamais churné' aurait 73.5% d'accuracy sans rien apprendre. L'AUC-ROC mesure la vraie capacité discriminante.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= métrique prioritaire. Sur 374 churners réels, 295 détectés. Rater un churner coûte bien plus cher qu'une fausse alerte → justifie le compromis precision/recall.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: Contract_Two year est le facteur individuel le plus fort (0.813), devant tenure. Ce résultat affine la feature importance classique qui plaçait tenure en 1ère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Avoir une réponse précise pour chaque choix. Ne pas dire 'j'ai choisi XGBoost parce que c'est le meilleur' sans expliquer pourquoi sur CE dataset avec CES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tests unitaires passent en 2.73 secondes. GitHub Actions au vert à chaque push : flake8 PEP8 + imports src/ + pytest. Architecture src/ = une seule source de vérité pour notebooks, dashboard et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LIVE : ouvrir le dashboard. Faire une prédiction : contrat mensuel, 3 mois, Fiber optic, Electronic check, 95€/mois → risque élevé. Montrer les facteurs de risque détectés.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seuil 0.10 a été identifié par recherche exhaustive sur 80 valeurs entre 0.10 et 0.90. C'est celui qui maximise le F1-score sur notre jeu de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qu'on comprend les limites de son propre travail est perçu très positivement par un jury technique. Ne pas présenter le modèle comme 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1 minute. Proposer questions. Dashboard disponible en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secours si question sur les métriques. Insister sur l'accuracy trompeuse et le choix de l'AUC-ROC comme scoring GridSearchCV.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CHURN CLIENT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MODÈLES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#3  ·  Introduction au Machine Learning  ·  Septembre 2026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 NZAMBA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15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Mastère DPIA 1  ·  Fonderie de l'Image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 NZAMBA  ·  DPIA 1  ·  Fonderie de l'Image  ·  Projet #3 Machine Learning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Résumé du problème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3619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 du pipeline de traitement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3794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Analyse des différentes étapes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96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Préparation du jeu de données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Construction des modèles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Analyse des résultats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44952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Représentations visuelles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467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Synthèse des expérimentations (choix effectués)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484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Revue de code - génie logiciel - outils de calcul numérique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502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Possibilité de déploiement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519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5371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Approche critique du travail (améliorations, autres méthodes)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métier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Opérateur télécom : 7 043 clients, 21 variables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82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26.5 % de clients ont résilié leur abonnement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505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Acquérir un nouveau client coûte 5 à 7× plus cher que de fidéliser un client existant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Détecter les churners AVANT la résiliation = enjeu financier majeur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Construire un modèle ML de prédiction du churn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Comparer 5 algorithmes de classification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80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Déployer un dashboard interactif et une API REST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Telco Customer Churn (Kaggle)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: IBM Sample Data - Kaggle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catégories de variables :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Démographie (genre, senior, partenaire...)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Services souscrits (internet, streaming...)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Contrat (type, paiement, facturation...)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Facturation (tenure, mensualité, total)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 cible : Churn (Yes / No)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Déséquilibre : 73.5 % non-churners · 26.5 % churners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brut (WA_Fn-UseC_-Telco-Customer-Churn.csv)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72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64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56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src/preprocessing.py   →   Nettoyage · Encodage · SMOTE · Split train/test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482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32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src/models.py          →   5 algorithmes · GridSearchCV · Cross-validation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24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163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083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src/evaluation.py      →   Métriques · Courbes ROC · SHAP · Seuil optimal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924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+----+----+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844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    |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76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      v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684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  api/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     main.py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3525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(Streamlit) (FastAPI)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44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928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  →  https://nzb-churn-project.streamlit.app/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7" y="7257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churn_project/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8643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.github/workflows/ci.yml    # CI/CD GitHub Actions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1541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api/main.py                 # API REST FastAPI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4218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dashboard/app.py            # Streamlit 5 pages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68957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               # Données brutes (gitignore)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957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exports/                    # PNG, CSV, Evidently HTML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22499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                     # Modèles .pkl sérialisés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4927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7604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01_eda_preparation.ipynb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02813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02_modelisation_validation.ipynb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295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56355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preprocessing.py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8312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models.py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989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evaluation.py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6669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tests/test_preprocessing.py # 6 tests unitaires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63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900" dirty="0"/>
          </a:p>
        </p:txBody>
      </p:sp>
      <p:pic>
        <p:nvPicPr>
          <p:cNvPr id="20" name="Image 0" descr="/home/claude/vscode_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94428"/>
            <a:ext cx="4206240" cy="44336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7" y="14514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DU JEU DE DONNÉES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anomalies détectées et traitées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TotalCharges  :  type str → float · 11 valeurs vides → 0 (clients tenure=0, jamais facturés)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SeniorCitizen  :  encodage 0/1 → No/Yes (harmonisation avec les autres variables)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customerID  :  supprimé · aucune valeur prédictive · 21 → 20 variables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797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 doublons  :  0.3 % du dataset · conservés · anomalie documentée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&amp; Normalisation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11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Encoding (7 variables binaires Yes/No → 0/1)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59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One-Hot Encoding (10 variables multi-modalités) · 20 col → 30 features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068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StandardScaler fitté uniquement sur le train → évite le data leakage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- Gestion du déséquilibre 26.5% / 73.5%</a:t>
            </a:r>
            <a:endParaRPr lang="en-US" sz="1000" dirty="0"/>
          </a:p>
        </p:txBody>
      </p:sp>
      <p:pic>
        <p:nvPicPr>
          <p:cNvPr id="14" name="Image 0" descr="/home/claude/01_distribution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258" y="1064261"/>
            <a:ext cx="3825725" cy="26197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937760" y="42428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génère des exemples synthétiques par interpolation.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4 139 vs 4 139 (50/50) dans le train.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UNIQUEMENT sur le train, jamais sur le test.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7" y="7257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MODÈLES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algorithmes comparés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627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Modèle de référence (</a:t>
            </a:r>
            <a:r>
              <a:rPr lang="fr-FR" sz="1000" dirty="0" err="1"/>
              <a:t>baseline</a:t>
            </a:r>
            <a:r>
              <a:rPr lang="fr-FR" sz="1000" dirty="0"/>
              <a:t>). Calcule la probabilité de </a:t>
            </a:r>
            <a:r>
              <a:rPr lang="fr-FR" sz="1000" dirty="0" err="1"/>
              <a:t>churn</a:t>
            </a:r>
            <a:r>
              <a:rPr lang="fr-FR" sz="1000" dirty="0"/>
              <a:t> via une fonction sigmoïde. Simple et interprétable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2128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Pose des questions successives sur les variables du client (</a:t>
            </a:r>
            <a:r>
              <a:rPr lang="fr-FR" sz="1000" dirty="0" err="1"/>
              <a:t>max_depth</a:t>
            </a:r>
            <a:r>
              <a:rPr lang="fr-FR" sz="1000" dirty="0"/>
              <a:t>=5). Très lisible mais sensible au surapprentissage.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7980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fr-FR" sz="1000" dirty="0" err="1"/>
              <a:t>ombine</a:t>
            </a:r>
            <a:r>
              <a:rPr lang="fr-FR" sz="1000" dirty="0"/>
              <a:t> 100 arbres entraînés sur des sous-échantillons différents. La prédiction est le vote majoritaire, ce qui le rend plus robuste qu'un seul arbre.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383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Gradient </a:t>
            </a:r>
            <a:r>
              <a:rPr lang="fr-FR" sz="1000" dirty="0" err="1"/>
              <a:t>Boosting</a:t>
            </a:r>
            <a:r>
              <a:rPr lang="fr-FR" sz="1000" dirty="0"/>
              <a:t> séquentiel : chaque arbre corrige les erreurs du précédent. C'est le modèle retenu.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9684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</a:t>
            </a:r>
            <a:r>
              <a:rPr lang="en-US" sz="9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dirty="0"/>
              <a:t>optimisée pour la vitesse. Donne des résultats similaires sur ce </a:t>
            </a:r>
            <a:r>
              <a:rPr lang="fr-FR" sz="1000" dirty="0" err="1"/>
              <a:t>dataset</a:t>
            </a:r>
            <a:r>
              <a:rPr lang="fr-FR" sz="1000" dirty="0"/>
              <a:t>, validé comme alternative robuste.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fr-FR" sz="1000" dirty="0"/>
              <a:t>36 combinaisons testées × 5 </a:t>
            </a:r>
            <a:r>
              <a:rPr lang="fr-FR" sz="1000" dirty="0" err="1"/>
              <a:t>folds</a:t>
            </a:r>
            <a:r>
              <a:rPr lang="fr-FR" sz="1000" dirty="0"/>
              <a:t> = 180 entraînements. </a:t>
            </a:r>
            <a:r>
              <a:rPr lang="fr-FR" sz="1000" dirty="0" err="1"/>
              <a:t>Scoring</a:t>
            </a:r>
            <a:r>
              <a:rPr lang="fr-FR" sz="1000" dirty="0"/>
              <a:t> : AUC-ROC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63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RÉSULTATS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2618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618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261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274320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564743"/>
            <a:ext cx="8046720" cy="290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Le modèle retenu est </a:t>
            </a:r>
            <a:r>
              <a:rPr lang="fr-FR" sz="1000" dirty="0" err="1"/>
              <a:t>XGBoost</a:t>
            </a:r>
            <a:r>
              <a:rPr lang="fr-FR" sz="1000" dirty="0"/>
              <a:t> Optimisé. Sur 374 clients ayant réellement </a:t>
            </a:r>
            <a:r>
              <a:rPr lang="fr-FR" sz="1000" dirty="0" err="1"/>
              <a:t>churné</a:t>
            </a:r>
            <a:r>
              <a:rPr lang="fr-FR" sz="1000" dirty="0"/>
              <a:t> dans le jeu de test, le modèle en détecte 295, soit 79 %. Ce résultat est stable en validation croisée 5-fold.</a:t>
            </a:r>
            <a:endParaRPr lang="en-US" sz="950" dirty="0"/>
          </a:p>
        </p:txBody>
      </p:sp>
      <p:pic>
        <p:nvPicPr>
          <p:cNvPr id="59" name="Image 0" descr="/home/claude/07_courbes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538" y="2227943"/>
            <a:ext cx="4700624" cy="1252725"/>
          </a:xfrm>
          <a:prstGeom prst="rect">
            <a:avLst/>
          </a:prstGeom>
        </p:spPr>
      </p:pic>
      <p:pic>
        <p:nvPicPr>
          <p:cNvPr id="60" name="Image 1" descr="/home/claude/08_matrices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19" y="2890668"/>
            <a:ext cx="4126190" cy="1200260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CABDB84D-1CAF-4BC5-AD4D-EF2E4B2E6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460" y="56605"/>
            <a:ext cx="4509806" cy="2142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REPRÉSENTATIONS VISUELLES</a:t>
            </a:r>
            <a:endParaRPr lang="en-US" sz="2200" dirty="0"/>
          </a:p>
        </p:txBody>
      </p:sp>
      <p:pic>
        <p:nvPicPr>
          <p:cNvPr id="4" name="Image 0" descr="/home/claude/03_contrat_anciennete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4023360" cy="1737360"/>
          </a:xfrm>
          <a:prstGeom prst="rect">
            <a:avLst/>
          </a:prstGeom>
        </p:spPr>
      </p:pic>
      <p:pic>
        <p:nvPicPr>
          <p:cNvPr id="5" name="Image 1" descr="/home/claude/13_shap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61872"/>
            <a:ext cx="4023360" cy="1737360"/>
          </a:xfrm>
          <a:prstGeom prst="rect">
            <a:avLst/>
          </a:prstGeom>
        </p:spPr>
      </p:pic>
      <p:pic>
        <p:nvPicPr>
          <p:cNvPr id="6" name="Image 2" descr="/home/claude/09_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0672"/>
            <a:ext cx="4023360" cy="1737360"/>
          </a:xfrm>
          <a:prstGeom prst="rect">
            <a:avLst/>
          </a:prstGeom>
        </p:spPr>
      </p:pic>
      <p:pic>
        <p:nvPicPr>
          <p:cNvPr id="7" name="Image 3" descr="/home/claude/14_shap_waterf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90672"/>
            <a:ext cx="4023360" cy="17373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57200" y="3017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churn par contrat et ancienneté</a:t>
            </a:r>
            <a:endParaRPr lang="en-US" sz="750" dirty="0"/>
          </a:p>
        </p:txBody>
      </p:sp>
      <p:sp>
        <p:nvSpPr>
          <p:cNvPr id="9" name="Text 3"/>
          <p:cNvSpPr txBox="1"/>
          <p:nvPr/>
        </p:nvSpPr>
        <p:spPr>
          <a:xfrm>
            <a:off x="4663440" y="3017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Plot - impact individuel par variable</a:t>
            </a:r>
            <a:endParaRPr lang="en-US" sz="750" dirty="0"/>
          </a:p>
        </p:txBody>
      </p:sp>
      <p:sp>
        <p:nvSpPr>
          <p:cNvPr id="10" name="Text 4"/>
          <p:cNvSpPr txBox="1"/>
          <p:nvPr/>
        </p:nvSpPr>
        <p:spPr>
          <a:xfrm>
            <a:off x="457200" y="48280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- XGBoost Optimisé</a:t>
            </a:r>
            <a:endParaRPr lang="en-US" sz="750" dirty="0"/>
          </a:p>
        </p:txBody>
      </p:sp>
      <p:sp>
        <p:nvSpPr>
          <p:cNvPr id="11" name="Text 5"/>
          <p:cNvSpPr txBox="1"/>
          <p:nvPr/>
        </p:nvSpPr>
        <p:spPr>
          <a:xfrm>
            <a:off x="4663440" y="48280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- explication d'une prédiction à 78.8 % de risque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EFFECTUÉS ET JUSTIFICATIONS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810512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déséquilibre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810512" y="15727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Appliqué après split · génère des exemples synthétiques plausibles · 4 139 vs 4 139 dans le train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751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810512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GridSearchCV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10512" y="22677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L'accuracy est trompeuse : un modèle naïf aurait 73.5 % sans rien apprendre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parmi 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810512" y="2962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Meilleur AUC-ROC · Feature importance précise · Explainer SHAP dédié au gradient boosting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0.10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10512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vs 0.50 par défaut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36576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Maximise le F1-score · Rater un churner coûte plus cher qu'une fausse alerte · Compromis métier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59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810512" y="4059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individuelle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810512" y="43525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Répond à 'pourquoi CE client ?' vs feature importance globale · Contract_Two year = facteur le plus fort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GÉNIE LOGICIEL ET OUTILS DE CALCUL NUMÉRIQUE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 ·  pytest</a:t>
            </a:r>
            <a:endParaRPr lang="en-US" sz="1100" dirty="0"/>
          </a:p>
        </p:txBody>
      </p:sp>
      <p:pic>
        <p:nvPicPr>
          <p:cNvPr id="5" name="Image 0" descr="/home/claude/pytest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411480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5488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·  GitHub Actions</a:t>
            </a:r>
            <a:endParaRPr lang="en-US" sz="1100" dirty="0"/>
          </a:p>
        </p:txBody>
      </p:sp>
      <p:pic>
        <p:nvPicPr>
          <p:cNvPr id="7" name="Image 1" descr="/home/claude/github_a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72768"/>
            <a:ext cx="4023360" cy="1600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calcul numérique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NumPy 2.4.6  ·  Calcul vectorisé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pandas 3.0.3  ·  Manipulation de DataFrames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279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scikit-learn 1.9.0  ·  Modèles ML, métriques, preprocessing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590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XGBoost 3.2.0  ·  Gradient Boosting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LightGBM 4.6.0  ·  Gradient Boosting rapide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39684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imbalanced-learn 0.14.2  ·  SMOTE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4279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SHAP 0.52.0  ·  Explicabilité des modèles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4590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Evidently 0.7.21  ·  Monitoring data drift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 DE DÉPLOIEMENT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 ·  https://nzb-churn-project.streamlit.app/</a:t>
            </a:r>
            <a:endParaRPr lang="en-US" sz="1100" dirty="0"/>
          </a:p>
        </p:txBody>
      </p:sp>
      <p:pic>
        <p:nvPicPr>
          <p:cNvPr id="5" name="Image 0" descr="/home/claude/dash_vue_ensem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4937760" cy="1828800"/>
          </a:xfrm>
          <a:prstGeom prst="rect">
            <a:avLst/>
          </a:prstGeom>
        </p:spPr>
      </p:pic>
      <p:pic>
        <p:nvPicPr>
          <p:cNvPr id="6" name="Image 1" descr="/home/claude/dash_simulate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572768"/>
            <a:ext cx="3246120" cy="1828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FastAPI  ·  http://localhost:8000/docs</a:t>
            </a:r>
            <a:endParaRPr lang="en-US" sz="1100" dirty="0"/>
          </a:p>
        </p:txBody>
      </p:sp>
      <p:pic>
        <p:nvPicPr>
          <p:cNvPr id="8" name="Image 2" descr="/home/claude/fastapi_do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22192"/>
            <a:ext cx="4114800" cy="10058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5488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 :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4754880" y="38221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  ·  Statut de l'API</a:t>
            </a:r>
            <a:endParaRPr lang="en-US" sz="950" dirty="0"/>
          </a:p>
        </p:txBody>
      </p:sp>
      <p:sp>
        <p:nvSpPr>
          <p:cNvPr id="11" name="Text 6"/>
          <p:cNvSpPr txBox="1"/>
          <p:nvPr/>
        </p:nvSpPr>
        <p:spPr>
          <a:xfrm>
            <a:off x="4754880" y="41330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/health  ·  Infos du modèle en service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4754880" y="4443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/predict  ·  Prédiction individuelle + SHAP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4754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/predict/batch  ·  Lot (max 100 clients)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 ·  Rapport de monitoring HTML intégré dans le dashboard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les données d'entraînement (référence) aux données de test (courant)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Détecte le data drift variable par variable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Évalue la performance de classification (accuracy, F1, AUC-ROC)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production : réentraînement déclenché si drift détecté au-delà d'un seuil prédéfini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nécessaire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84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modèle entraîné à T se dégrade si les comportements clients évoluent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50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Nouvelle concurrence, crise économique, changement tarifaire → data drift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159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Sans monitoring, la dégradation est invisible jusqu'à ce qu'elle soit trop tard</a:t>
            </a:r>
            <a:endParaRPr lang="en-US" sz="1050" dirty="0"/>
          </a:p>
        </p:txBody>
      </p:sp>
      <p:pic>
        <p:nvPicPr>
          <p:cNvPr id="13" name="Image 0" descr="/home/claude/dash_seu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61872"/>
            <a:ext cx="3749040" cy="29260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029200" y="4251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décision optimisé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vs 0.50 par défaut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CRITIQUE DU TRAVAIL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Spécifique au dataset Telco américain · pas testé sur d'autres marchés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84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Données statiques · le modèle ne se met pas à jour automatiquement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68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 modeste (~54 %) · compromis assumé · à communiquer aux équipes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523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manquantes : satisfaction client, réclamations, qualité réseau perçue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possibles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600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 (ratio charges, nb services souscrits...)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984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intégré directement dans le simulateur dashboard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68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Stacking des meilleurs modèles (XGBoost + LightGBM + RF)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7523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Déploiement API sur cloud (AWS, Railway, Render)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1363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Réentraînement automatique déclenché par Evidently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méthodes envisagées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600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Réseaux de neurones → limités sur données tabulaires à ce volume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9842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CatBoost → alternative à XGBoost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3682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Isolation Forest → détection d'anomalies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7523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LIME → alternative à SHAP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136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AutoML (H2O, AutoSklearn)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1828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métier issues du modèle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416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Priorité 1  ·  Cibler les clients 0-12 mois d'ancienneté (47.7 % de churn) · programme de bienvenue renforcé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Priorité 2  ·  Inciter au passage en contrat long (2.8 % vs 42.7 %) · offre commerciale ciblée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Priorité 3  ·  Investiguer Fiber optic (41.9 % de churn malgré service premium) · analyse satisfaction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7A9B77"/>
          </a:solidFill>
          <a:ln w="12700">
            <a:solidFill>
              <a:srgbClr val="7A9B7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algorithmes comparés · 8 configurations testées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56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Optimisé · AUC-ROC 0.8420 · Recall 79 %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40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295 churners détectés sur 374 réels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24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· Evidently · FastAPI · Streamlit Cloud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GitHub Actions · 6 tests unitaires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Spécifique au dataset Telco américain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956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 modeste (~54 %) · compromis assumé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340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Données statiques · pas de mise à jour auto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dans le simulateur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56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déployée sur cloud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3408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Réentraînement auto via Evidently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 avancé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18288"/>
          </a:xfrm>
          <a:prstGeom prst="rect">
            <a:avLst/>
          </a:prstGeom>
          <a:solidFill>
            <a:srgbClr val="7A9B77"/>
          </a:solidFill>
          <a:ln w="12700">
            <a:solidFill>
              <a:srgbClr val="7A9B7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ligne  ·  https://nzb-churn-project.streamlit.app/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https://github.com/SNZAMBA65/churn_project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 NZAMBA  ·  DPIA 1  ·  Fonderie de l'Image  ·  Projet #3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- DÉFINITIONS ET RÉSULTATS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sous la courbe ROC · mesure la capacité à distinguer les deux classes sur tous les seuils possibles · 0.5 = aléatoire · 1.0 = parfait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75104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0482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de prédictions correctes · TROMPEUSE sur dataset déséquilibré · un modèle naïf aurait 73.5 % sans rien apprendre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7249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374 clients qui ont VRAIMENT churné · le modèle en détecte 295 · métrique prioritaire dans ce contexte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~54 %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401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clients signalés à risque · combien le sont vraiment · compromis intentionnel pour maximiser le recall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4078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0782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entre Precision et Recall · métrique équilibrée pour les datasets déséquilibrés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2206</Words>
  <Application>Microsoft Office PowerPoint</Application>
  <PresentationFormat>Affichage à l'écran (16:9)</PresentationFormat>
  <Paragraphs>253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Samir NZAMBA</cp:lastModifiedBy>
  <cp:revision>7</cp:revision>
  <dcterms:created xsi:type="dcterms:W3CDTF">2026-09-14T23:44:52Z</dcterms:created>
  <dcterms:modified xsi:type="dcterms:W3CDTF">2026-09-15T18:25:04Z</dcterms:modified>
</cp:coreProperties>
</file>