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8" d="100"/>
          <a:sy n="108" d="100"/>
        </p:scale>
        <p:origin x="8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639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Démarrer par : 'Perdre un client coûte 5 à 7 fois plus cher que d'en fidéliser un. Ce projet répond à une question concrète : comment détecter, avant qu'il parte, un client qui risque de résilier son abonnement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en 30 secondes. Démo live du dashboard à la slide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 clé : Sur 374 clients qui ont vraiment churné dans le jeu de test, le modèle en détecte 295 (79%). Il en rate 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L'architecture modulaire src/ évite la duplication de code entre notebooks, dashboard et API. Tout changement dans preprocessing.py se répercute automatiquement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structure dans VS Code en live si possible. Insister sur le fait que src/ est importé par les notebooks, le dashboard ET l'API - une seule source de vérité.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critique pour le jury : SMOTE est appliqué APRÈS le split train/test. Si on l'appliquait avant, des exemples synthétiques du test contamineraient le train → data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Pourquoi AUC-ROC comme scoring et pas accuracy ? L'accuracy est trompeuse : un modèle qui prédit 'jamais churné' aurait 73.5% d'accuracy sans rien apprendre. L'AUC-ROC mesure la vraie capacité discriminante.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= métrique prioritaire. Sur 374 churners réels, 295 détectés. Rater un churner coûte bien plus cher qu'une fausse alerte → justifie le compromis precision/recall.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 : Contract_Two year est le facteur individuel le plus fort (0.813), devant tenure. Ce résultat affine la feature importance classique qui plaçait tenure en 1ère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Avoir une réponse précise pour chaque choix. Ne pas dire 'j'ai choisi XGBoost parce que c'est le meilleur' sans expliquer pourquoi sur CE dataset avec CES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tests unitaires passent en 2.73 secondes. GitHub Actions au vert à chaque push : flake8 PEP8 + imports src/ + pytest. Architecture src/ = une seule source de vérité pour notebooks, dashboard et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DÉMO LIVE : ouvrir le dashboard. Faire une prédiction : contrat mensuel, 3 mois, Fiber optic, Electronic check, 95€/mois → risque élevé. Montrer les facteurs de risque détectés.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seuil 0.10 a été identifié par recherche exhaustive sur 80 valeurs entre 0.10 et 0.90. C'est celui qui maximise le F1-score sur notre jeu de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qu'on comprend les limites de son propre travail est perçu très positivement par un jury technique. Ne pas présenter le modèle comme parfait.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secours si question sur les métriques. Insister sur l'accuracy trompeuse et le choix de l'AUC-ROC comme scoring GridSearchCV.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4A6741"/>
          </a:solidFill>
          <a:ln w="12700">
            <a:solidFill>
              <a:srgbClr val="4A67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CHURN CLIENT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DES MODÈLES DE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#3  ·  Introduction au Machine Learning  ·  Septembre 2026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SAMIR NZAMBA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15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Mastère DPIA 1  ·  Fonderie de l'Image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91947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Samir NZAMBA  ·  DPIA 1  ·  Fonderie de l'Image  ·  Projet #3 Machine Learning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Résumé du problème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36192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Description du pipeline de traitement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37944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Analyse des différentes étapes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39696"/>
            <a:ext cx="7955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Préparation du jeu de données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41448"/>
            <a:ext cx="7955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Construction des modèles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743200"/>
            <a:ext cx="7955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Analyse des résultats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44952"/>
            <a:ext cx="7955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Représentations visuelles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46704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Synthèse des expérimentations (choix effectués)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48456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Revue de code - génie logiciel - outils de calcul numérique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5020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Possibilité de déploiement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251960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Monitoring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553712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Approche critique du travail (améliorations, autres méthodes)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métier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Opérateur télécom : 7 043 clients, 21 variables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4825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26.5 % de clients ont résilié leur abonnement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45059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Acquérir un nouveau client coûte 5 à 7× plus cher que de fidéliser un client existant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5292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Détecter les churners AVANT la résiliation = enjeu financier majeur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du projet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49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Construire un modèle ML de prédiction du churn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Comparer 5 algorithmes de classification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80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Déployer un dashboard interactif et une API REST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280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·  Telco Customer Churn (Kaggle)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1645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 : IBM Sample Data - Kaggle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catégories de variables :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2377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Démographie (genre, senior, partenaire...)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7432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Services souscrits (internet, streaming...)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3108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Contrat (type, paiement, facturation...)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474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Facturation (tenure, mensualité, total)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Variable cible : Churn (Yes / No)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Déséquilibre : 73.5 % non-churners · 26.5 % churners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PIPELINE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brut (WA_Fn-UseC_-Telco-Customer-Churn.csv)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7218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|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642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v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562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src/preprocessing.py   →   Nettoyage · Encodage · SMOTE · Split train/test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0482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|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v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323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src/models.py          →   5 algorithmes · GridSearchCV · Cross-validation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6243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|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1635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v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00837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src/evaluation.py      →   Métriques · Courbes ROC · SHAP · Seuil optimal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2004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|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9242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+----+----+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844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      |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7764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         v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9684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  api/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main.py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3525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(Streamlit) (FastAPI)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445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9286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Cloud  →  https://nzb-churn-project.streamlit.app/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57" y="7257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DU PROJET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6187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churn_project/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8643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.github/workflows/ci.yml    # CI/CD GitHub Actions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1541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api/main.py                 # API REST FastAPI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4218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dashboard/app.py            # Streamlit 5 pages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68957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                       # Données brutes (gitignore)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957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exports/                    # PNG, CSV, Evidently HTML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22499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models/                     # Modèles .pkl sérialisés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84927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notebooks/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07604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01_eda_preparation.ipynb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302813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02_modelisation_validation.ipynb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295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56355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preprocessing.py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98312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models.py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989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evaluation.py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36669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tests/test_preprocessing.py # 6 tests unitaires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663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requirements.txt</a:t>
            </a:r>
            <a:endParaRPr lang="en-US" sz="900" dirty="0"/>
          </a:p>
        </p:txBody>
      </p:sp>
      <p:pic>
        <p:nvPicPr>
          <p:cNvPr id="20" name="Image 0" descr="/home/claude/vscode_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94428"/>
            <a:ext cx="4206240" cy="44336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57" y="14514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DU JEU DE DONNÉES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anomalies détectées et traitées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276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TotalCharges  :  type str → float · 11 valeurs vides → 0 (clients tenure=0, jamais facturés)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SeniorCitizen  :  encodage 0/1 → No/Yes (harmonisation avec les autres variables)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9572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customerID  :  supprimé · aucune valeur prédictive · 21 → 20 variables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77977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 doublons  :  0.3 % du dataset · conservés · anomalie documentée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461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Encodage &amp; Normalisation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6118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Label Encoding (7 variables binaires Yes/No → 0/1)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5935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One-Hot Encoding (10 variables multi-modalités) · 20 col → 30 features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30682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StandardScaler fitté uniquement sur le train → évite le data leakage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- Gestion du déséquilibre 26.5% / 73.5%</a:t>
            </a:r>
            <a:endParaRPr lang="en-US" sz="1000" dirty="0"/>
          </a:p>
        </p:txBody>
      </p:sp>
      <p:pic>
        <p:nvPicPr>
          <p:cNvPr id="14" name="Image 0" descr="/home/claude/01_distribution_ch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258" y="1064261"/>
            <a:ext cx="3825725" cy="261975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4937760" y="42428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génère des exemples synthétiques par interpolation.</a:t>
            </a:r>
            <a:endParaRPr lang="en-US" sz="900" dirty="0"/>
          </a:p>
          <a:p>
            <a:pPr marL="0" indent="0" algn="just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4 139 vs 4 139 (50/50) dans le train.</a:t>
            </a:r>
            <a:endParaRPr lang="en-US" sz="900" dirty="0"/>
          </a:p>
          <a:p>
            <a:pPr marL="0" indent="0" algn="just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Appliqué UNIQUEMENT sur le train, jamais sur le test.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57" y="7257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DES MODÈLES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618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algorithmes comparés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6276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000" dirty="0"/>
              <a:t>Modèle de référence (</a:t>
            </a:r>
            <a:r>
              <a:rPr lang="fr-FR" sz="1000" dirty="0" err="1"/>
              <a:t>baseline</a:t>
            </a:r>
            <a:r>
              <a:rPr lang="fr-FR" sz="1000" dirty="0"/>
              <a:t>). Calcule la probabilité de </a:t>
            </a:r>
            <a:r>
              <a:rPr lang="fr-FR" sz="1000" dirty="0" err="1"/>
              <a:t>churn</a:t>
            </a:r>
            <a:r>
              <a:rPr lang="fr-FR" sz="1000" dirty="0"/>
              <a:t> via une fonction sigmoïde. Simple et interprétable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de Décision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21284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000" dirty="0"/>
              <a:t>Pose des questions successives sur les variables du client (</a:t>
            </a:r>
            <a:r>
              <a:rPr lang="fr-FR" sz="1000" dirty="0" err="1"/>
              <a:t>max_depth</a:t>
            </a:r>
            <a:r>
              <a:rPr lang="fr-FR" sz="1000" dirty="0"/>
              <a:t>=5). Très lisible mais sensible au surapprentissage.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798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7980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fr-FR" sz="1000" dirty="0" err="1"/>
              <a:t>ombine</a:t>
            </a:r>
            <a:r>
              <a:rPr lang="fr-FR" sz="1000" dirty="0"/>
              <a:t> 100 arbres entraînés sur des sous-échantillons différents. La prédiction est le vote majoritaire, ce qui le rend plus robuste qu'un seul arbre.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100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★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3383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000" dirty="0"/>
              <a:t>Gradient </a:t>
            </a:r>
            <a:r>
              <a:rPr lang="fr-FR" sz="1000" dirty="0" err="1"/>
              <a:t>Boosting</a:t>
            </a:r>
            <a:r>
              <a:rPr lang="fr-FR" sz="1000" dirty="0"/>
              <a:t> séquentiel : chaque arbre corrige les erreurs du précédent. C'est le modèle retenu.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9684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39684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</a:t>
            </a:r>
            <a:r>
              <a:rPr lang="en-US" sz="95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fr-FR" sz="1000" dirty="0"/>
              <a:t>optimisée pour la vitesse. Donne des résultats similaires sur ce </a:t>
            </a:r>
            <a:r>
              <a:rPr lang="fr-FR" sz="1000" dirty="0" err="1"/>
              <a:t>dataset</a:t>
            </a:r>
            <a:r>
              <a:rPr lang="fr-FR" sz="1000" dirty="0"/>
              <a:t>, validé comme alternative robuste.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 err="1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</a:t>
            </a:r>
            <a:r>
              <a:rPr lang="en-US" sz="100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</a:t>
            </a:r>
            <a:r>
              <a:rPr lang="fr-FR" sz="1000" dirty="0"/>
              <a:t>36 combinaisons testées × 5 </a:t>
            </a:r>
            <a:r>
              <a:rPr lang="fr-FR" sz="1000" dirty="0" err="1"/>
              <a:t>folds</a:t>
            </a:r>
            <a:r>
              <a:rPr lang="fr-FR" sz="1000" dirty="0"/>
              <a:t> = 180 entraînements. </a:t>
            </a:r>
            <a:r>
              <a:rPr lang="fr-FR" sz="1000" dirty="0" err="1"/>
              <a:t>Scoring</a:t>
            </a:r>
            <a:r>
              <a:rPr lang="fr-FR" sz="1000" dirty="0"/>
              <a:t> : AUC-ROC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145143" y="0"/>
            <a:ext cx="29572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RÉSULTATS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2618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26187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2618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2618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2743200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47639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000" dirty="0"/>
              <a:t>Le modèle retenu est XGBoost. Sur 374 clients ayant réellement churné dans le jeu de test, le modèle en détecte 283, soit 75.7 %. Ce résultat est stable en validation croisée 5-fold.</a:t>
            </a:r>
            <a:endParaRPr lang="en-US" sz="950" dirty="0"/>
          </a:p>
        </p:txBody>
      </p:sp>
      <p:pic>
        <p:nvPicPr>
          <p:cNvPr id="59" name="Image 0" descr="/home/claude/07_courbes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57" y="1633000"/>
            <a:ext cx="5410414" cy="1570156"/>
          </a:xfrm>
          <a:prstGeom prst="rect">
            <a:avLst/>
          </a:prstGeom>
        </p:spPr>
      </p:pic>
      <p:pic>
        <p:nvPicPr>
          <p:cNvPr id="60" name="Image 1" descr="/home/claude/08_matrices_confu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835" y="3333930"/>
            <a:ext cx="5880806" cy="1299248"/>
          </a:xfrm>
          <a:prstGeom prst="rect">
            <a:avLst/>
          </a:prstGeom>
        </p:spPr>
      </p:pic>
      <p:pic>
        <p:nvPicPr>
          <p:cNvPr id="61" name="Picture 60" descr="tableau_metriques.png"/>
          <p:cNvPicPr>
            <a:picLocks noChangeAspect="1"/>
          </p:cNvPicPr>
          <p:nvPr/>
        </p:nvPicPr>
        <p:blipFill rotWithShape="1">
          <a:blip r:embed="rId5"/>
          <a:srcRect l="3209" t="3019" r="7784" b="10814"/>
          <a:stretch/>
        </p:blipFill>
        <p:spPr>
          <a:xfrm>
            <a:off x="4758401" y="96808"/>
            <a:ext cx="4240456" cy="15701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REPRÉSENTATIONS VISUELLES</a:t>
            </a:r>
            <a:endParaRPr lang="en-US" sz="2200" dirty="0"/>
          </a:p>
        </p:txBody>
      </p:sp>
      <p:pic>
        <p:nvPicPr>
          <p:cNvPr id="4" name="Image 0" descr="/home/claude/03_contrat_anciennete_ch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61872"/>
            <a:ext cx="4023360" cy="1737360"/>
          </a:xfrm>
          <a:prstGeom prst="rect">
            <a:avLst/>
          </a:prstGeom>
        </p:spPr>
      </p:pic>
      <p:pic>
        <p:nvPicPr>
          <p:cNvPr id="5" name="Image 1" descr="/home/claude/13_shap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261872"/>
            <a:ext cx="4023360" cy="1737360"/>
          </a:xfrm>
          <a:prstGeom prst="rect">
            <a:avLst/>
          </a:prstGeom>
        </p:spPr>
      </p:pic>
      <p:pic>
        <p:nvPicPr>
          <p:cNvPr id="6" name="Image 2" descr="/home/claude/09_feature_import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0672"/>
            <a:ext cx="4023360" cy="1737360"/>
          </a:xfrm>
          <a:prstGeom prst="rect">
            <a:avLst/>
          </a:prstGeom>
        </p:spPr>
      </p:pic>
      <p:pic>
        <p:nvPicPr>
          <p:cNvPr id="7" name="Image 3" descr="/home/claude/14_shap_waterfa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3090672"/>
            <a:ext cx="4023360" cy="173736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457200" y="301752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churn par contrat et ancienneté</a:t>
            </a:r>
            <a:endParaRPr lang="en-US" sz="750" dirty="0"/>
          </a:p>
        </p:txBody>
      </p:sp>
      <p:sp>
        <p:nvSpPr>
          <p:cNvPr id="9" name="Text 3"/>
          <p:cNvSpPr txBox="1"/>
          <p:nvPr/>
        </p:nvSpPr>
        <p:spPr>
          <a:xfrm>
            <a:off x="4663440" y="301752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Summary Plot - impact individuel par variable</a:t>
            </a:r>
            <a:endParaRPr lang="en-US" sz="750" dirty="0"/>
          </a:p>
        </p:txBody>
      </p:sp>
      <p:sp>
        <p:nvSpPr>
          <p:cNvPr id="10" name="Text 4"/>
          <p:cNvSpPr txBox="1"/>
          <p:nvPr/>
        </p:nvSpPr>
        <p:spPr>
          <a:xfrm>
            <a:off x="457200" y="48280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- XGBoost</a:t>
            </a:r>
            <a:endParaRPr lang="en-US" sz="750" dirty="0"/>
          </a:p>
        </p:txBody>
      </p:sp>
      <p:sp>
        <p:nvSpPr>
          <p:cNvPr id="11" name="Text 5"/>
          <p:cNvSpPr txBox="1"/>
          <p:nvPr/>
        </p:nvSpPr>
        <p:spPr>
          <a:xfrm>
            <a:off x="4663440" y="48280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Waterfall - explication d'une prédiction à 78.8 % de risque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EFFECTUÉS ET JUSTIFICATIONS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810512" y="1280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déséquilibre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810512" y="157276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Appliqué après split · génère des exemples synthétiques plausibles · 4 139 vs 4 139 dans le train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75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810512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GridSearchCV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10512" y="226771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L'accuracy est trompeuse : un modèle naïf aurait 73.5 % sans rien apprendre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6700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810512" y="2670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retenu parmi 5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810512" y="296265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AUC-ROC compétitif (0.8266) · Feature importance précise · Explainer SHAP dédié au gradient boosting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0.10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10512" y="3364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vs 0.50 par défaut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810512" y="36576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Maximise le F1-score · Rater un churner coûte plus cher qu'une fausse alerte · Compromis métier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59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10512" y="4059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Explicabilité individuelle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810512" y="4352544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Répond à 'pourquoi CE client ?' vs feature importance globale · Contract_Two year = facteur le plus fort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GÉNIE LOGICIEL ET OUTILS DE CALCUL NUMÉRIQUE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618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  ·  pytest</a:t>
            </a:r>
            <a:endParaRPr lang="en-US" sz="1100" dirty="0"/>
          </a:p>
        </p:txBody>
      </p:sp>
      <p:pic>
        <p:nvPicPr>
          <p:cNvPr id="5" name="Image 0" descr="/home/claude/pytest_out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411480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754880" y="12618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 ·  GitHub Actions</a:t>
            </a:r>
            <a:endParaRPr lang="en-US" sz="1100" dirty="0"/>
          </a:p>
        </p:txBody>
      </p:sp>
      <p:pic>
        <p:nvPicPr>
          <p:cNvPr id="7" name="Image 1" descr="/home/claude/github_ac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572768"/>
            <a:ext cx="4023360" cy="1600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310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de calcul numérique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NumPy 2.4.6  ·  Calcul vectorisé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968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pandas 3.0.3  ·  Manipulation de DataFrames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2793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scikit-learn 1.9.0  ·  Modèles ML, métriques, preprocessing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5902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XGBoost 3.2.0  ·  Gradient Boosting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LightGBM 4.6.0  ·  Gradient Boosting rapide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4754880" y="39684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imbalanced-learn 0.14.2  ·  SMOTE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754880" y="4279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SHAP 0.52.0  ·  Explicabilité des modèles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754880" y="45902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Evidently 0.7.21  ·  Monitoring data drift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POSSIBILITÉ DE DÉPLOIEMENT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732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 ·  https://nzb-churn-project.streamlit.app/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105400" y="5806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FastAPI  ·  http://localhost:8000/docs</a:t>
            </a:r>
            <a:endParaRPr lang="en-US" sz="1100" dirty="0"/>
          </a:p>
        </p:txBody>
      </p:sp>
      <p:pic>
        <p:nvPicPr>
          <p:cNvPr id="8" name="Image 2" descr="/home/claude/fastapi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70" y="3227471"/>
            <a:ext cx="4114800" cy="176235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754880" y="3520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endpoints :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4754880" y="38221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GET /  ·  Statut de l'API</a:t>
            </a:r>
            <a:endParaRPr lang="en-US" sz="950" dirty="0"/>
          </a:p>
        </p:txBody>
      </p:sp>
      <p:sp>
        <p:nvSpPr>
          <p:cNvPr id="11" name="Text 6"/>
          <p:cNvSpPr txBox="1"/>
          <p:nvPr/>
        </p:nvSpPr>
        <p:spPr>
          <a:xfrm>
            <a:off x="4754880" y="413308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GET /health  ·  Infos du modèle en service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754880" y="444398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 /predict  ·  Prédiction individuelle + SHAP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47548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 /predict/batch  ·  Lot (max 100 clients)</a:t>
            </a:r>
            <a:endParaRPr lang="en-US" sz="95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B6EC6B8-5C08-4CBB-A94A-8C1E32977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212743"/>
            <a:ext cx="4066094" cy="1943207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5A746A76-E6DF-45B8-9E15-A1F2B09C4B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817" y="1192887"/>
            <a:ext cx="3970358" cy="18756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618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 ·  Rapport de monitoring HTML intégré dans le dashboard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Compare les données d'entraînement (référence) aux données de test (courant)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Détecte le data drift variable par variable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31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Évalue la performance de classification (accuracy, F1, AUC-ROC)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97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 production : réentraînement déclenché si drift détecté au-delà d'un seuil prédéfini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461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nécessaire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844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modèle entraîné à T se dégrade si les comportements clients évoluent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502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Nouvelle concurrence, crise économique, changement tarifaire → data drift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3159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Sans monitoring, la dégradation est invisible jusqu'à ce qu'elle soit trop tard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0" y="4251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de décision optimisé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 vs 0.50 par défaut</a:t>
            </a:r>
            <a:endParaRPr lang="en-US" sz="85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3D65FE5C-F246-44D6-9839-66044C64DE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278" y="1365035"/>
            <a:ext cx="3985846" cy="27197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09728"/>
            <a:ext cx="8321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A1A"/>
                </a:solidFill>
                <a:latin typeface="Calibri"/>
              </a:rPr>
              <a:t>RÉSULTATS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A6741"/>
                </a:solidFill>
                <a:latin typeface="Calibri"/>
              </a:rPr>
              <a:t>Réalisé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07008"/>
            <a:ext cx="2743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- 5 algorithmes comparés et optimisés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45336"/>
            <a:ext cx="2743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XGBoost retenu : AUC-ROC 0.8266, Recall 75.7 %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83664"/>
            <a:ext cx="2743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- 283 churners détectés sur 374 réels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21991"/>
            <a:ext cx="2743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SHAP, Evidently, FastAPI, Streamlit 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743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CI/CD GitHub Actions, 6 tests unitaires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8412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A6741"/>
                </a:solidFill>
                <a:latin typeface="Calibri"/>
              </a:rPr>
              <a:t>Limites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207008"/>
            <a:ext cx="2560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Spécifique au dataset Telco américain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545336"/>
            <a:ext cx="2560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Données statiques, pas de mise à jour auto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83664"/>
            <a:ext cx="2560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Precision modeste (~54 %), compromis assumé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221991"/>
            <a:ext cx="2560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Variables manquantes : satisfaction, réclamations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841248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A6741"/>
                </a:solidFill>
                <a:latin typeface="Calibri"/>
              </a:rPr>
              <a:t>Suite envisagée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207008"/>
            <a:ext cx="26060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SHAP intégré dans le simulateur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545336"/>
            <a:ext cx="26060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API déployée sur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1883664"/>
            <a:ext cx="26060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Réentraînement auto via Evidently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221991"/>
            <a:ext cx="26060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Feature engineering avancé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560320"/>
            <a:ext cx="26060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- Stacking des meilleurs modèles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8229600" cy="12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3016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Calibri"/>
              </a:rPr>
              <a:t>Autres méthodes envisagées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3192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CatBoost, Isolation Forest, LIME, AutoML. Les réseaux de neurones n'ont pas été retenus car peu adaptés aux données tabulaires à ce volume.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63016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A1A1A"/>
                </a:solidFill>
                <a:latin typeface="Calibri"/>
              </a:rPr>
              <a:t>Dashboard : https://nzb-churn-project.streamlit.app/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959352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A1A1A"/>
                </a:solidFill>
                <a:latin typeface="Calibri"/>
              </a:rPr>
              <a:t>GitHub : https://github.com/SNZAMBA65/churn_project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888888"/>
                </a:solidFill>
                <a:latin typeface="Calibri"/>
              </a:rPr>
              <a:t>SAMIR NZAMBA  ·  DPIA 1  ·  Fonderie de l'Image  ·  Projet #3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- DÉFINITIONS ET RÉSULTATS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3716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0.8266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 sous la courbe ROC · mesure la capacité à distinguer les deux classes sur tous les seuils possibles · 0.5 = aléatoire · 1.0 = parfait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975104"/>
            <a:ext cx="8229600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57200" y="20482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0482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75.0 %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0482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de prédictions correctes · TROMPEUSE sur dataset déséquilibré · un modèle naïf aurait 73.5 % sans rien apprendre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8229600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457200" y="2724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27249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75.7 %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249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Parmi les 374 clients qui ont VRAIMENT churné · le modèle en détecte 283 · métrique prioritaire dans ce contexte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328416"/>
            <a:ext cx="8229600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457200" y="34015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34015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~54 %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3401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Parmi les clients signalés à risque · combien le sont vraiment · compromis intentionnel pour maximiser le recall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4005072"/>
            <a:ext cx="8229600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457200" y="4078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6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011680" y="40782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926080" y="407822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harmonique entre Precision et Recall · métrique équilibrée pour les datasets déséquilibrés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2136</Words>
  <Application>Microsoft Office PowerPoint</Application>
  <PresentationFormat>Affichage à l'écran (16:9)</PresentationFormat>
  <Paragraphs>243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Samir NZAMBA</cp:lastModifiedBy>
  <cp:revision>10</cp:revision>
  <dcterms:created xsi:type="dcterms:W3CDTF">2026-09-14T23:44:52Z</dcterms:created>
  <dcterms:modified xsi:type="dcterms:W3CDTF">2026-09-15T18:14:58Z</dcterms:modified>
</cp:coreProperties>
</file>